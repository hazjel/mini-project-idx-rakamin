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Gelasio" pitchFamily="2" charset="0"/>
      <p:regular r:id="rId11"/>
      <p:bold r:id="rId12"/>
      <p:italic r:id="rId13"/>
      <p:boldItalic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906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2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99792"/>
            <a:ext cx="11074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Analisis Potensi Investasi Deposito Nasabah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487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Mengidentifikasi Nasabah Potensial untuk Produk Simpanan Jangka Panjang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667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Jian Hazel Sitorus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137A67-A3FA-ADF5-AA44-7007D62B0201}"/>
              </a:ext>
            </a:extLst>
          </p:cNvPr>
          <p:cNvSpPr/>
          <p:nvPr/>
        </p:nvSpPr>
        <p:spPr>
          <a:xfrm>
            <a:off x="12791326" y="7664521"/>
            <a:ext cx="1746607" cy="452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d/x partners">
            <a:extLst>
              <a:ext uri="{FF2B5EF4-FFF2-40B4-BE49-F238E27FC236}">
                <a16:creationId xmlns:a16="http://schemas.microsoft.com/office/drawing/2014/main" id="{2834D43C-A3CD-CD1B-6E58-D66858066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1991" y="4766786"/>
            <a:ext cx="1253870" cy="125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akamin Academy - iOS Developer [for Client] - Dicoding Jobs">
            <a:extLst>
              <a:ext uri="{FF2B5EF4-FFF2-40B4-BE49-F238E27FC236}">
                <a16:creationId xmlns:a16="http://schemas.microsoft.com/office/drawing/2014/main" id="{9716F8A5-2429-B41F-AF41-5D7EEEAFF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831" y="4766787"/>
            <a:ext cx="1253870" cy="125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62498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Latar Belakang &amp; Tujuan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588901"/>
            <a:ext cx="6571417" cy="2100739"/>
          </a:xfrm>
          <a:prstGeom prst="roundRect">
            <a:avLst>
              <a:gd name="adj" fmla="val 7774"/>
            </a:avLst>
          </a:prstGeom>
          <a:solidFill>
            <a:srgbClr val="E5E5E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725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Masalah Bisnis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4396859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Bank ingin meningkatkan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 Lifetime Value (CLV)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dengan mendorong nasabah untuk berinvestasi pada produk simpanan jangka panjang.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Tujuan Analisis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Mengidentifikasi karakteristik dan profil nasabah existing yang memiliki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potensi investasi tertinggi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agar penargetan oleh Relationship Manager (RM) menjadi lebih efektif.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668CF1-ABCF-97D5-AB7A-F63F0F6B3A0C}"/>
              </a:ext>
            </a:extLst>
          </p:cNvPr>
          <p:cNvSpPr/>
          <p:nvPr/>
        </p:nvSpPr>
        <p:spPr>
          <a:xfrm>
            <a:off x="12791326" y="7664521"/>
            <a:ext cx="1746607" cy="452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2" descr="id/x partners">
            <a:extLst>
              <a:ext uri="{FF2B5EF4-FFF2-40B4-BE49-F238E27FC236}">
                <a16:creationId xmlns:a16="http://schemas.microsoft.com/office/drawing/2014/main" id="{AA1DDF51-EE56-CC8E-C676-A63287490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803" y="7602453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akamin Academy - iOS Developer [for Client] - Dicoding Jobs">
            <a:extLst>
              <a:ext uri="{FF2B5EF4-FFF2-40B4-BE49-F238E27FC236}">
                <a16:creationId xmlns:a16="http://schemas.microsoft.com/office/drawing/2014/main" id="{A3F9E2FB-ABC0-25A5-5B04-4DF68B3BF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29" y="7602454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69476"/>
            <a:ext cx="5703332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Ringkasan Data Nasabah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76" y="1700689"/>
            <a:ext cx="6886337" cy="5268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376" y="7178873"/>
            <a:ext cx="839902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627513" y="2048470"/>
            <a:ext cx="4291013" cy="1560552"/>
          </a:xfrm>
          <a:prstGeom prst="roundRect">
            <a:avLst>
              <a:gd name="adj" fmla="val 553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840635" y="2261592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30 Nasabah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840635" y="2768918"/>
            <a:ext cx="386476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sampel yang dianalisis, dengan 15 kolom variabel profil.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27513" y="3795236"/>
            <a:ext cx="4291013" cy="1560552"/>
          </a:xfrm>
          <a:prstGeom prst="roundRect">
            <a:avLst>
              <a:gd name="adj" fmla="val 553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840635" y="400835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50% / 50%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840635" y="4515683"/>
            <a:ext cx="386476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Distribusi target sangat seimbang: 50% subscribe, 50% non-subscribe.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627513" y="5542002"/>
            <a:ext cx="4291013" cy="1560552"/>
          </a:xfrm>
          <a:prstGeom prst="roundRect">
            <a:avLst>
              <a:gd name="adj" fmla="val 553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840635" y="575512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 Missing Values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840635" y="6262449"/>
            <a:ext cx="386476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bersih dan siap dianalisis tanpa perlu imputasi.</a:t>
            </a: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9B9B0B-B94A-A5AC-80E1-6AF027340E16}"/>
              </a:ext>
            </a:extLst>
          </p:cNvPr>
          <p:cNvSpPr/>
          <p:nvPr/>
        </p:nvSpPr>
        <p:spPr>
          <a:xfrm>
            <a:off x="12791326" y="7654247"/>
            <a:ext cx="1746607" cy="452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id/x partners">
            <a:extLst>
              <a:ext uri="{FF2B5EF4-FFF2-40B4-BE49-F238E27FC236}">
                <a16:creationId xmlns:a16="http://schemas.microsoft.com/office/drawing/2014/main" id="{86F0E9D4-2812-8CB2-0882-09A03A798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803" y="7602453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Rakamin Academy - iOS Developer [for Client] - Dicoding Jobs">
            <a:extLst>
              <a:ext uri="{FF2B5EF4-FFF2-40B4-BE49-F238E27FC236}">
                <a16:creationId xmlns:a16="http://schemas.microsoft.com/office/drawing/2014/main" id="{EEFB4B16-7117-D9C9-8EA3-99A05EC62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29" y="7602454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1794"/>
            <a:ext cx="121199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Temuan Utama — Faktor Demografi &amp; Finansial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51559"/>
            <a:ext cx="3978116" cy="2808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01491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332928" y="227480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928" y="2892862"/>
            <a:ext cx="3978116" cy="27903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72067" y="22975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Usia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872067" y="2878693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Batas pemisah jelas di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~40 tahun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Subscriber: rata-rata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50.5 tahun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(min 41). Non-Subscriber: rata-rata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33.9 tahun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9872067" y="4642128"/>
            <a:ext cx="3978116" cy="1690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872067" y="4970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Saldo Bulanan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872067" y="5552003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Subscriber memiliki kapasitas finansial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5.3× lebih besar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rata-rata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Rp 24.5 Juta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 hanya Rp 4.6 Juta. Batas aman target: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~Rp 15 Juta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26F93-6E68-03C2-9C51-0AFED4205D71}"/>
              </a:ext>
            </a:extLst>
          </p:cNvPr>
          <p:cNvSpPr/>
          <p:nvPr/>
        </p:nvSpPr>
        <p:spPr>
          <a:xfrm>
            <a:off x="12791326" y="7664521"/>
            <a:ext cx="1746607" cy="452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id/x partners">
            <a:extLst>
              <a:ext uri="{FF2B5EF4-FFF2-40B4-BE49-F238E27FC236}">
                <a16:creationId xmlns:a16="http://schemas.microsoft.com/office/drawing/2014/main" id="{DB53BC0D-0CEA-BB79-81EE-8350E1DEC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803" y="7602453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Rakamin Academy - iOS Developer [for Client] - Dicoding Jobs">
            <a:extLst>
              <a:ext uri="{FF2B5EF4-FFF2-40B4-BE49-F238E27FC236}">
                <a16:creationId xmlns:a16="http://schemas.microsoft.com/office/drawing/2014/main" id="{BBFF31D3-0556-7971-6427-0D7B34B61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29" y="7602454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8892"/>
            <a:ext cx="117443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Temuan Utama — Loyalitas &amp; Beban Pinjaman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34647"/>
            <a:ext cx="30440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Loyalitas &amp; Engagement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15791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Subscriber rata-rata sudah menjadi nasabah selama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15.3 tahun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3× lebih lama dibanding non-subscriber (5.3 tahun). Mereka juga menggunakan lebih banyak produk bank: rata-rata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4.2 produk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 1.7 produk.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005030"/>
            <a:ext cx="4205168" cy="1690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5333762"/>
            <a:ext cx="34750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Beban KPR (Housing Loan)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914906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Menjadi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penghambat utama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Nasabah </a:t>
            </a:r>
            <a:r>
              <a:rPr lang="en-US" sz="1750" i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tanpa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housing loan: konversi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66.7%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Nasabah </a:t>
            </a:r>
            <a:r>
              <a:rPr lang="en-US" sz="1750" i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dengan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housing loan: hanya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11.1%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C3BF48-A044-B811-DAB9-B9A59DD85E98}"/>
              </a:ext>
            </a:extLst>
          </p:cNvPr>
          <p:cNvSpPr/>
          <p:nvPr/>
        </p:nvSpPr>
        <p:spPr>
          <a:xfrm>
            <a:off x="12791326" y="7664521"/>
            <a:ext cx="1746607" cy="452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88D51B-53DE-587F-2E8E-6DF72BEA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372" y="3166688"/>
            <a:ext cx="8265238" cy="2898200"/>
          </a:xfrm>
          <a:prstGeom prst="rect">
            <a:avLst/>
          </a:prstGeom>
        </p:spPr>
      </p:pic>
      <p:pic>
        <p:nvPicPr>
          <p:cNvPr id="12" name="Picture 2" descr="id/x partners">
            <a:extLst>
              <a:ext uri="{FF2B5EF4-FFF2-40B4-BE49-F238E27FC236}">
                <a16:creationId xmlns:a16="http://schemas.microsoft.com/office/drawing/2014/main" id="{A8B02D4F-8AB5-9573-0F72-A36181264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803" y="7602453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akamin Academy - iOS Developer [for Client] - Dicoding Jobs">
            <a:extLst>
              <a:ext uri="{FF2B5EF4-FFF2-40B4-BE49-F238E27FC236}">
                <a16:creationId xmlns:a16="http://schemas.microsoft.com/office/drawing/2014/main" id="{432F400B-FC2B-670B-FDA4-3767E08A4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29" y="7602454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56511"/>
            <a:ext cx="10627400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i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"Perfect Predictors"</a:t>
            </a:r>
            <a:r>
              <a:rPr lang="en-US" sz="4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Faktor Penentu Mutlak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758" y="1599009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Terdapat </a:t>
            </a: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variabel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dengan tingkat akurasi </a:t>
            </a: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100%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dalam menentukan apakah nasabah akan membuka deposito: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758" y="2137172"/>
            <a:ext cx="13166884" cy="1839635"/>
          </a:xfrm>
          <a:prstGeom prst="roundRect">
            <a:avLst>
              <a:gd name="adj" fmla="val 477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9378" y="2144792"/>
            <a:ext cx="6575822" cy="1824395"/>
          </a:xfrm>
          <a:prstGeom prst="roundRect">
            <a:avLst>
              <a:gd name="adj" fmla="val 4814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8452" y="2353866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Pengalaman Investasi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48452" y="2796064"/>
            <a:ext cx="6157674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100%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nasabah yang memiliki pengalaman investasi akhirnya bersedia </a:t>
            </a: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Sebaliknya, 0% tanpa pengalaman investasi yang subscribe.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0" y="2144792"/>
            <a:ext cx="6575822" cy="1824395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0" y="2144792"/>
            <a:ext cx="22860" cy="1824395"/>
          </a:xfrm>
          <a:prstGeom prst="roundRect">
            <a:avLst>
              <a:gd name="adj" fmla="val 384186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24274" y="2353866"/>
            <a:ext cx="407681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Pendekatan Personal (RM Contact)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7524274" y="2796064"/>
            <a:ext cx="615767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100%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nasabah yang dihubungi langsung oleh Relationship Manager memutuskan untuk </a:t>
            </a:r>
            <a:r>
              <a:rPr lang="en-US" sz="16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Tanpa kontak RM: 0% konversi.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8" y="4410432"/>
            <a:ext cx="4286607" cy="2929533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852" y="4410432"/>
            <a:ext cx="4077533" cy="294584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3363715-B07B-A301-415A-BF5878D08904}"/>
              </a:ext>
            </a:extLst>
          </p:cNvPr>
          <p:cNvSpPr/>
          <p:nvPr/>
        </p:nvSpPr>
        <p:spPr>
          <a:xfrm>
            <a:off x="12791326" y="7664521"/>
            <a:ext cx="1746607" cy="452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 descr="id/x partners">
            <a:extLst>
              <a:ext uri="{FF2B5EF4-FFF2-40B4-BE49-F238E27FC236}">
                <a16:creationId xmlns:a16="http://schemas.microsoft.com/office/drawing/2014/main" id="{4A33DC16-9C27-8A11-D4C2-526896FDB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803" y="7602453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Rakamin Academy - iOS Developer [for Client] - Dicoding Jobs">
            <a:extLst>
              <a:ext uri="{FF2B5EF4-FFF2-40B4-BE49-F238E27FC236}">
                <a16:creationId xmlns:a16="http://schemas.microsoft.com/office/drawing/2014/main" id="{AFBDEAFF-112B-D230-31EE-731642106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29" y="7602454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44711"/>
            <a:ext cx="9009936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Profil Nasabah Ideal — Target Prioritas RM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9564648" y="1520428"/>
            <a:ext cx="4238506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Karakteristik Nasabah Berpeluang Tertinggi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64648" y="2282309"/>
            <a:ext cx="4238506" cy="695920"/>
          </a:xfrm>
          <a:prstGeom prst="roundRect">
            <a:avLst>
              <a:gd name="adj" fmla="val 157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541788" y="2282309"/>
            <a:ext cx="91440" cy="695920"/>
          </a:xfrm>
          <a:prstGeom prst="roundRect">
            <a:avLst>
              <a:gd name="adj" fmla="val 8627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843849" y="2492931"/>
            <a:ext cx="37486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Usia </a:t>
            </a:r>
            <a:r>
              <a:rPr lang="en-US" sz="14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≥ 41 tahun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564648" y="3133725"/>
            <a:ext cx="4238506" cy="695920"/>
          </a:xfrm>
          <a:prstGeom prst="roundRect">
            <a:avLst>
              <a:gd name="adj" fmla="val 157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541788" y="3133725"/>
            <a:ext cx="91440" cy="695920"/>
          </a:xfrm>
          <a:prstGeom prst="roundRect">
            <a:avLst>
              <a:gd name="adj" fmla="val 8627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843849" y="3344347"/>
            <a:ext cx="37486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Saldo bulanan </a:t>
            </a:r>
            <a:r>
              <a:rPr lang="en-US" sz="14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≥ Rp 15 Juta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564648" y="3985141"/>
            <a:ext cx="4238506" cy="695920"/>
          </a:xfrm>
          <a:prstGeom prst="roundRect">
            <a:avLst>
              <a:gd name="adj" fmla="val 157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541788" y="3985141"/>
            <a:ext cx="91440" cy="695920"/>
          </a:xfrm>
          <a:prstGeom prst="roundRect">
            <a:avLst>
              <a:gd name="adj" fmla="val 8627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843849" y="4195763"/>
            <a:ext cx="37486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Menjadi nasabah </a:t>
            </a:r>
            <a:r>
              <a:rPr lang="en-US" sz="14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≥ 9 tahun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564648" y="4836557"/>
            <a:ext cx="4238506" cy="695920"/>
          </a:xfrm>
          <a:prstGeom prst="roundRect">
            <a:avLst>
              <a:gd name="adj" fmla="val 157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541788" y="4836557"/>
            <a:ext cx="91440" cy="695920"/>
          </a:xfrm>
          <a:prstGeom prst="roundRect">
            <a:avLst>
              <a:gd name="adj" fmla="val 8627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843849" y="5047178"/>
            <a:ext cx="37486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Tidak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memiliki tanggungan KPR aktif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9564648" y="5687973"/>
            <a:ext cx="4238506" cy="695920"/>
          </a:xfrm>
          <a:prstGeom prst="roundRect">
            <a:avLst>
              <a:gd name="adj" fmla="val 157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541788" y="5687973"/>
            <a:ext cx="91440" cy="695920"/>
          </a:xfrm>
          <a:prstGeom prst="roundRect">
            <a:avLst>
              <a:gd name="adj" fmla="val 8627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843849" y="5898594"/>
            <a:ext cx="37486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Sudah memiliki </a:t>
            </a:r>
            <a:r>
              <a:rPr lang="en-US" sz="14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≥ 3 produk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bank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9564648" y="6539389"/>
            <a:ext cx="4238506" cy="970597"/>
          </a:xfrm>
          <a:prstGeom prst="roundRect">
            <a:avLst>
              <a:gd name="adj" fmla="val 1130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541788" y="6539389"/>
            <a:ext cx="91440" cy="970597"/>
          </a:xfrm>
          <a:prstGeom prst="roundRect">
            <a:avLst>
              <a:gd name="adj" fmla="val 8627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843849" y="6750010"/>
            <a:ext cx="374868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Pekerjaan: </a:t>
            </a:r>
            <a:r>
              <a:rPr lang="en-US" sz="14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management, retired, self-employed, entrepreneur</a:t>
            </a:r>
            <a:endParaRPr lang="en-US" sz="14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06D7C0-577C-A820-8322-140BF83B60A1}"/>
              </a:ext>
            </a:extLst>
          </p:cNvPr>
          <p:cNvSpPr/>
          <p:nvPr/>
        </p:nvSpPr>
        <p:spPr>
          <a:xfrm>
            <a:off x="12791326" y="7664521"/>
            <a:ext cx="1746607" cy="452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18D1003-1364-7447-FE0A-3DABA3352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28" y="1812740"/>
            <a:ext cx="7499957" cy="5315399"/>
          </a:xfrm>
          <a:prstGeom prst="rect">
            <a:avLst/>
          </a:prstGeom>
        </p:spPr>
      </p:pic>
      <p:pic>
        <p:nvPicPr>
          <p:cNvPr id="26" name="Picture 2" descr="id/x partners">
            <a:extLst>
              <a:ext uri="{FF2B5EF4-FFF2-40B4-BE49-F238E27FC236}">
                <a16:creationId xmlns:a16="http://schemas.microsoft.com/office/drawing/2014/main" id="{C3B01DF5-9691-DB18-313B-C649A8C24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803" y="7602453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Rakamin Academy - iOS Developer [for Client] - Dicoding Jobs">
            <a:extLst>
              <a:ext uri="{FF2B5EF4-FFF2-40B4-BE49-F238E27FC236}">
                <a16:creationId xmlns:a16="http://schemas.microsoft.com/office/drawing/2014/main" id="{26A3D779-9B95-2DEC-FEFD-7F43AE268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29" y="7602454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1932"/>
            <a:ext cx="79321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Rekomendasi Aksi untuk Bisnis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334339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71455"/>
            <a:ext cx="36873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Prioritaskan Kontak Personal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61874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RM harus lebih agresif melakukan pendekatan personal — terbukti memiliki tingkat konversi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100%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334339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Fokuskan Segmen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561874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Arahkan effort RM pada nasabah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usia ≥ 40 tahun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dengan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saldo ≥ Rp 15 Juta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segmen paling menguntungkan.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741307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478423"/>
            <a:ext cx="37104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Edukasi Sebagai Pintu Masuk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5968841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 literasi keuangan sebagai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"jembatan"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untuk membangun pengalaman investasi awal sebelum ditawarkan deposito.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741307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478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Efisiensi Waktu RM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5968841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Deprioritaskan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nasabah dengan cicilan housing loan aktif — kapasitas investasi mereka sedang terbatas (konversi hanya 11.1%).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7A8FF9-360C-4EFC-2199-C6849A73E360}"/>
              </a:ext>
            </a:extLst>
          </p:cNvPr>
          <p:cNvSpPr/>
          <p:nvPr/>
        </p:nvSpPr>
        <p:spPr>
          <a:xfrm>
            <a:off x="12791326" y="7664521"/>
            <a:ext cx="1746607" cy="452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id/x partners">
            <a:extLst>
              <a:ext uri="{FF2B5EF4-FFF2-40B4-BE49-F238E27FC236}">
                <a16:creationId xmlns:a16="http://schemas.microsoft.com/office/drawing/2014/main" id="{96ED5FD5-358A-3D98-14F6-198A0424A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803" y="7602453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Rakamin Academy - iOS Developer [for Client] - Dicoding Jobs">
            <a:extLst>
              <a:ext uri="{FF2B5EF4-FFF2-40B4-BE49-F238E27FC236}">
                <a16:creationId xmlns:a16="http://schemas.microsoft.com/office/drawing/2014/main" id="{F8C391EB-3C07-C133-8C95-583C0C000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29" y="7602454"/>
            <a:ext cx="514130" cy="5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456</Words>
  <Application>Microsoft Office PowerPoint</Application>
  <PresentationFormat>Custom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Gelasio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JIAN HAZEL SITORUS</cp:lastModifiedBy>
  <cp:revision>2</cp:revision>
  <dcterms:created xsi:type="dcterms:W3CDTF">2026-04-23T13:45:23Z</dcterms:created>
  <dcterms:modified xsi:type="dcterms:W3CDTF">2026-04-23T13:53:39Z</dcterms:modified>
</cp:coreProperties>
</file>